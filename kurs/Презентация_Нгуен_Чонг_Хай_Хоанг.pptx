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6" r:id="rId8"/>
    <p:sldId id="262" r:id="rId9"/>
    <p:sldId id="273" r:id="rId10"/>
    <p:sldId id="274" r:id="rId11"/>
    <p:sldId id="277" r:id="rId12"/>
    <p:sldId id="263" r:id="rId13"/>
    <p:sldId id="264" r:id="rId14"/>
    <p:sldId id="272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2446" autoAdjust="0"/>
  </p:normalViewPr>
  <p:slideViewPr>
    <p:cSldViewPr snapToGrid="0">
      <p:cViewPr varScale="1">
        <p:scale>
          <a:sx n="60" d="100"/>
          <a:sy n="60" d="100"/>
        </p:scale>
        <p:origin x="96" y="10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A3312C0-D7C2-10F5-5963-1AF9622BD1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4AD7406-077C-88C5-968F-AE3CAC1346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2AA99FA-E318-25A8-E4F7-A95007BC7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CC6D3-F755-4960-A1BC-0BD3C9F4C6D0}" type="datetimeFigureOut">
              <a:rPr lang="ru-RU" smtClean="0"/>
              <a:t>27.05.2026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1B19C97-3EFE-BCA6-01C1-8C3572A29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D622C3A-F9CE-463B-0E5D-03C97BA87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6541-D436-430B-9B70-02BCB562699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77923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B97DB4-8D3B-A80E-879A-4F1F9BAD5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B16F049-13EA-B483-3071-82906EA56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92D6FAA-6298-A2B8-8D0F-82B880125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CC6D3-F755-4960-A1BC-0BD3C9F4C6D0}" type="datetimeFigureOut">
              <a:rPr lang="ru-RU" smtClean="0"/>
              <a:t>27.05.2026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E433F15-46EE-9475-9327-B5C98AD96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6C6330F-7C0C-D29A-F93B-8B9DF9BC2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6541-D436-430B-9B70-02BCB562699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5928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BEAB3F-195E-4015-EA81-9DE2C592A1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50A4F3B-FDA7-ED76-D451-C97A78C861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3F923D1-CE9A-A4C5-228A-3CA9F5E68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CC6D3-F755-4960-A1BC-0BD3C9F4C6D0}" type="datetimeFigureOut">
              <a:rPr lang="ru-RU" smtClean="0"/>
              <a:t>27.05.2026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36E8C24-0A24-9C78-6699-20BBB84AF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8220424-B120-C9DB-EEC3-5E7E9126E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6541-D436-430B-9B70-02BCB562699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27396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2A6E98-A9E2-2806-CB20-DE3FCE7AE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4AB2AF4-9D90-E9F1-F58D-B51A2B24DD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A94430D-A6BA-C2BA-72A9-0F6DDD806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F4C06C2-153B-EFE2-3E19-757A463E1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CC6D3-F755-4960-A1BC-0BD3C9F4C6D0}" type="datetimeFigureOut">
              <a:rPr lang="ru-RU" smtClean="0"/>
              <a:t>27.05.2026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1E36BF4-D777-31A6-9460-BF26270FF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D9CC3E0-D6E2-E876-8EBF-75E76ED3F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6541-D436-430B-9B70-02BCB562699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10127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FD85C6-134B-C972-179E-C5163B43C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7FD9A81-BCFA-5A12-806A-4B94FB40CA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5FD2394-1426-D3BA-8D47-3C400B4242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21BE363-04AA-1C83-287C-9B1C591064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27DCFE5-117D-C62A-75CB-63C331B298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C17BBC42-C098-1680-AF79-60ADCAD1D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CC6D3-F755-4960-A1BC-0BD3C9F4C6D0}" type="datetimeFigureOut">
              <a:rPr lang="ru-RU" smtClean="0"/>
              <a:t>27.05.2026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599DDCC-9A13-CE1F-8294-A77E9E6B2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552A513-D7A3-D2EA-B5B3-9F86558BB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6541-D436-430B-9B70-02BCB562699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3220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5B98CF-0BD2-8ADF-5BB4-F23343943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D9E3F1A-2447-4D71-BB37-19DFE127F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CC6D3-F755-4960-A1BC-0BD3C9F4C6D0}" type="datetimeFigureOut">
              <a:rPr lang="ru-RU" smtClean="0"/>
              <a:t>27.05.2026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ED67151-84A0-837C-D256-B1E7E92E6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021A804-3998-1930-1D00-2BDD391D3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6541-D436-430B-9B70-02BCB562699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63152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7215950-81E3-52E3-5615-DDBF156CD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CC6D3-F755-4960-A1BC-0BD3C9F4C6D0}" type="datetimeFigureOut">
              <a:rPr lang="ru-RU" smtClean="0"/>
              <a:t>27.05.2026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F85A343-1F9B-53B8-33D2-69D12D007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D61F0F9-7EB8-29DA-914B-7711E820A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6541-D436-430B-9B70-02BCB562699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2962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4288A3-31A0-3F66-4EBB-4AEA8FC6D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1A294FF-CB56-04A1-A7B3-3D79EF34AE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5F7E01-3287-1B54-085E-49FDDF25E2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3876CD5-72F8-1CA4-3085-6211D45C8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CC6D3-F755-4960-A1BC-0BD3C9F4C6D0}" type="datetimeFigureOut">
              <a:rPr lang="ru-RU" smtClean="0"/>
              <a:t>27.05.2026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B26517F-F9FC-9303-B0AF-3CF54AF4B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75AB856-AE05-40E6-5D21-CF933D03A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6541-D436-430B-9B70-02BCB562699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1017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424863E-C565-97EC-A4EA-03DF50A6A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B5FBADF-1121-A20A-C29E-B75B12D13C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76E6B30-A28F-2F4B-9C5E-A8DB91A0C2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3F69A8C-6DB8-1560-D9CC-A43EC04BB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CC6D3-F755-4960-A1BC-0BD3C9F4C6D0}" type="datetimeFigureOut">
              <a:rPr lang="ru-RU" smtClean="0"/>
              <a:t>27.05.2026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4A632C7-D953-DF83-F5C9-9C80E11731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52D980F-93EE-B462-85FA-B81EDC28E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6541-D436-430B-9B70-02BCB562699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7180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091FD8-D77A-A89F-0CFA-489BB2A80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7B3A213-62E5-23C3-718B-C25D7FA1C4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6D6506C-AC58-851D-719D-6D8C9B4BE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CC6D3-F755-4960-A1BC-0BD3C9F4C6D0}" type="datetimeFigureOut">
              <a:rPr lang="ru-RU" smtClean="0"/>
              <a:t>27.05.2026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E7360C3-F653-C019-6459-A718297C3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DC18C8-4047-8CFA-747A-B95EB0F1E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6541-D436-430B-9B70-02BCB562699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1025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CB77E2E6-0506-CB55-7847-09395489EC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61A5417-3870-99F5-B32B-F66ACAF8AA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13D328B-2DB6-1D44-710C-7A7B215F1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CC6D3-F755-4960-A1BC-0BD3C9F4C6D0}" type="datetimeFigureOut">
              <a:rPr lang="ru-RU" smtClean="0"/>
              <a:t>27.05.2026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ACAC1B3-4EF0-85A8-5636-240DBCCCC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5197C0E-C03D-7CB8-21EC-191FB9464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6541-D436-430B-9B70-02BCB562699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53947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126FBE-930A-96D8-8975-820829CE8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CDE828B-85C0-7BA0-4568-5A437E3F1E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2ACD2B5-D6C0-FFB3-776D-114FD84080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0CC6D3-F755-4960-A1BC-0BD3C9F4C6D0}" type="datetimeFigureOut">
              <a:rPr lang="ru-RU" smtClean="0"/>
              <a:t>27.05.2026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8483776-C4B5-C002-E1FF-DBEEDBBA53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2655F05-3EF8-E70B-D169-96B910BCF6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C96541-D436-430B-9B70-02BCB562699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6842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3CF17D97-98AB-1DEE-56FA-C142C16CBD1C}"/>
              </a:ext>
            </a:extLst>
          </p:cNvPr>
          <p:cNvPicPr>
            <a:picLocks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0209" y="444452"/>
            <a:ext cx="1375270" cy="132343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D07BD1A-2E48-1F9A-427B-FCF3B4334359}"/>
              </a:ext>
            </a:extLst>
          </p:cNvPr>
          <p:cNvSpPr/>
          <p:nvPr/>
        </p:nvSpPr>
        <p:spPr>
          <a:xfrm>
            <a:off x="2456890" y="221722"/>
            <a:ext cx="7434455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" algn="ctr"/>
            <a:r>
              <a:rPr lang="ru-RU" sz="1400" b="1" i="1" dirty="0">
                <a:latin typeface="Times New Roman" panose="02020603050405020304" pitchFamily="18" charset="0"/>
                <a:ea typeface="Calibri" panose="020F0502020204030204" pitchFamily="34" charset="0"/>
              </a:rPr>
              <a:t>Федеральное агентство по рыболовству</a:t>
            </a:r>
            <a:endParaRPr lang="ru-RU" sz="14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17145" algn="ctr"/>
            <a:r>
              <a:rPr lang="ru-RU" sz="1400" b="1" i="1" dirty="0">
                <a:latin typeface="Times New Roman" panose="02020603050405020304" pitchFamily="18" charset="0"/>
                <a:ea typeface="Calibri" panose="020F0502020204030204" pitchFamily="34" charset="0"/>
              </a:rPr>
              <a:t>Федеральное государственное бюджетное образовательное</a:t>
            </a:r>
            <a:endParaRPr lang="ru-RU" sz="14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17145" algn="ctr"/>
            <a:r>
              <a:rPr lang="ru-RU" sz="1400" b="1" i="1" dirty="0">
                <a:latin typeface="Times New Roman" panose="02020603050405020304" pitchFamily="18" charset="0"/>
                <a:ea typeface="Calibri" panose="020F0502020204030204" pitchFamily="34" charset="0"/>
              </a:rPr>
              <a:t>учреждение высшего образования</a:t>
            </a:r>
            <a:endParaRPr lang="ru-RU" sz="14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17145" algn="ctr"/>
            <a:r>
              <a:rPr lang="ru-RU" sz="1400" b="1" i="1" dirty="0">
                <a:latin typeface="Times New Roman" panose="02020603050405020304" pitchFamily="18" charset="0"/>
                <a:ea typeface="Calibri" panose="020F0502020204030204" pitchFamily="34" charset="0"/>
              </a:rPr>
              <a:t>«Астраханский государственный технический университет»</a:t>
            </a:r>
            <a:endParaRPr lang="ru-RU" sz="14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17145" algn="ctr"/>
            <a:r>
              <a:rPr lang="ru-RU" sz="800" b="1" dirty="0">
                <a:latin typeface="Times New Roman" panose="02020603050405020304" pitchFamily="18" charset="0"/>
                <a:ea typeface="Calibri" panose="020F0502020204030204" pitchFamily="34" charset="0"/>
              </a:rPr>
              <a:t>Система менеджмента качества в области образования, воспитания, науки и инноваций сертифицирована</a:t>
            </a:r>
            <a:endParaRPr lang="ru-RU" sz="8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algn="ctr"/>
            <a:r>
              <a:rPr lang="ru-RU" sz="800" b="1" dirty="0">
                <a:latin typeface="Times New Roman" panose="02020603050405020304" pitchFamily="18" charset="0"/>
                <a:ea typeface="Calibri" panose="020F0502020204030204" pitchFamily="34" charset="0"/>
              </a:rPr>
              <a:t>ООО «ДКС РУС» по международному стандарту ISO 9001</a:t>
            </a:r>
            <a:r>
              <a:rPr lang="en-US" sz="800" b="1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ru-RU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ГОСТ Р ИСО 9001</a:t>
            </a:r>
            <a:endParaRPr lang="ru-RU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8FB092-C61F-A642-7AFF-19D0F13E445B}"/>
              </a:ext>
            </a:extLst>
          </p:cNvPr>
          <p:cNvSpPr txBox="1"/>
          <p:nvPr/>
        </p:nvSpPr>
        <p:spPr>
          <a:xfrm>
            <a:off x="2915816" y="1916832"/>
            <a:ext cx="60839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Кафедра автоматизированные системы обработки информации и управления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383106-8A31-2D37-1D7A-F7A5222CFD62}"/>
              </a:ext>
            </a:extLst>
          </p:cNvPr>
          <p:cNvSpPr txBox="1"/>
          <p:nvPr/>
        </p:nvSpPr>
        <p:spPr>
          <a:xfrm>
            <a:off x="1606491" y="2514821"/>
            <a:ext cx="91352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ОТЧЕТ ПО КУРСОВОМУ ПРОЕКТУ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C0265D-664C-FA4C-C45A-F233EB00189C}"/>
              </a:ext>
            </a:extLst>
          </p:cNvPr>
          <p:cNvSpPr txBox="1"/>
          <p:nvPr/>
        </p:nvSpPr>
        <p:spPr>
          <a:xfrm>
            <a:off x="1617844" y="3331151"/>
            <a:ext cx="83565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</a:t>
            </a:r>
          </a:p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 теме: «Разработка калькулятора для выполнения арифметических операций с комплексными числами» 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AB24702-E340-8A0F-E756-25DD98972980}"/>
              </a:ext>
            </a:extLst>
          </p:cNvPr>
          <p:cNvSpPr/>
          <p:nvPr/>
        </p:nvSpPr>
        <p:spPr>
          <a:xfrm>
            <a:off x="6880702" y="4473696"/>
            <a:ext cx="504056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Выполнил: обучающийся группы ДИНРб-11/2</a:t>
            </a:r>
          </a:p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Нгуен Чонг Хай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Хоанг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Руководитель практики: ассистент </a:t>
            </a:r>
          </a:p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Девяткина Е. П.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8D440C0-AAE9-6439-711C-531AB852CB6C}"/>
              </a:ext>
            </a:extLst>
          </p:cNvPr>
          <p:cNvSpPr/>
          <p:nvPr/>
        </p:nvSpPr>
        <p:spPr>
          <a:xfrm>
            <a:off x="2915816" y="6079351"/>
            <a:ext cx="4572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Астрахань – 2026 г.</a:t>
            </a:r>
          </a:p>
        </p:txBody>
      </p:sp>
    </p:spTree>
    <p:extLst>
      <p:ext uri="{BB962C8B-B14F-4D97-AF65-F5344CB8AC3E}">
        <p14:creationId xmlns:p14="http://schemas.microsoft.com/office/powerpoint/2010/main" val="8146955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54F2D9D-8664-48F5-91CD-4783ABC627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5505" y="795614"/>
            <a:ext cx="8280987" cy="59821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265C8F9-70ED-186D-C089-A0985A07D96C}"/>
              </a:ext>
            </a:extLst>
          </p:cNvPr>
          <p:cNvSpPr txBox="1"/>
          <p:nvPr/>
        </p:nvSpPr>
        <p:spPr>
          <a:xfrm>
            <a:off x="818147" y="80211"/>
            <a:ext cx="105557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ПРЕДМЕТНОЙ ОБЛАСТИ</a:t>
            </a:r>
          </a:p>
        </p:txBody>
      </p:sp>
    </p:spTree>
    <p:extLst>
      <p:ext uri="{BB962C8B-B14F-4D97-AF65-F5344CB8AC3E}">
        <p14:creationId xmlns:p14="http://schemas.microsoft.com/office/powerpoint/2010/main" val="836618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6CDFBF5-00D2-2319-0FFE-C268FB89340A}"/>
              </a:ext>
            </a:extLst>
          </p:cNvPr>
          <p:cNvSpPr txBox="1"/>
          <p:nvPr/>
        </p:nvSpPr>
        <p:spPr>
          <a:xfrm>
            <a:off x="1756610" y="0"/>
            <a:ext cx="86787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КУРСОВОГО ПРОЕКТА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47FDB25-EF16-6B9C-772D-FB86E3C598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304" y="787975"/>
            <a:ext cx="10435389" cy="582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446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906B7107-3BAD-109B-5EF6-F0BA472B0B5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80607836"/>
              </p:ext>
            </p:extLst>
          </p:nvPr>
        </p:nvGraphicFramePr>
        <p:xfrm>
          <a:off x="747962" y="581145"/>
          <a:ext cx="10696075" cy="4602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400927">
                  <a:extLst>
                    <a:ext uri="{9D8B030D-6E8A-4147-A177-3AD203B41FA5}">
                      <a16:colId xmlns:a16="http://schemas.microsoft.com/office/drawing/2014/main" val="1889301400"/>
                    </a:ext>
                  </a:extLst>
                </a:gridCol>
                <a:gridCol w="1684421">
                  <a:extLst>
                    <a:ext uri="{9D8B030D-6E8A-4147-A177-3AD203B41FA5}">
                      <a16:colId xmlns:a16="http://schemas.microsoft.com/office/drawing/2014/main" val="3314604368"/>
                    </a:ext>
                  </a:extLst>
                </a:gridCol>
                <a:gridCol w="1780674">
                  <a:extLst>
                    <a:ext uri="{9D8B030D-6E8A-4147-A177-3AD203B41FA5}">
                      <a16:colId xmlns:a16="http://schemas.microsoft.com/office/drawing/2014/main" val="1437134833"/>
                    </a:ext>
                  </a:extLst>
                </a:gridCol>
                <a:gridCol w="1556084">
                  <a:extLst>
                    <a:ext uri="{9D8B030D-6E8A-4147-A177-3AD203B41FA5}">
                      <a16:colId xmlns:a16="http://schemas.microsoft.com/office/drawing/2014/main" val="3997210579"/>
                    </a:ext>
                  </a:extLst>
                </a:gridCol>
                <a:gridCol w="2273969">
                  <a:extLst>
                    <a:ext uri="{9D8B030D-6E8A-4147-A177-3AD203B41FA5}">
                      <a16:colId xmlns:a16="http://schemas.microsoft.com/office/drawing/2014/main" val="3820099645"/>
                    </a:ext>
                  </a:extLst>
                </a:gridCol>
              </a:tblGrid>
              <a:tr h="540115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Функция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АНАЛОГ 1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АНАЛОГ 2</a:t>
                      </a:r>
                    </a:p>
                    <a:p>
                      <a:pPr algn="ctr"/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АНАЛОГ 3</a:t>
                      </a:r>
                    </a:p>
                    <a:p>
                      <a:pPr algn="ctr"/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Разрабатываемая система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22457"/>
                  </a:ext>
                </a:extLst>
              </a:tr>
              <a:tr h="845397">
                <a:tc>
                  <a:txBody>
                    <a:bodyPr/>
                    <a:lstStyle/>
                    <a:p>
                      <a:pPr algn="l"/>
                      <a:r>
                        <a:rPr lang="ru-RU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Арифметические операции с комплексными числами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6080456"/>
                  </a:ext>
                </a:extLst>
              </a:tr>
              <a:tr h="587081">
                <a:tc>
                  <a:txBody>
                    <a:bodyPr/>
                    <a:lstStyle/>
                    <a:p>
                      <a:pPr algn="l"/>
                      <a:r>
                        <a:rPr lang="ru-RU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Поддержка декартовой и полярной форм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2427998"/>
                  </a:ext>
                </a:extLst>
              </a:tr>
              <a:tr h="587081">
                <a:tc>
                  <a:txBody>
                    <a:bodyPr/>
                    <a:lstStyle/>
                    <a:p>
                      <a:pPr algn="l"/>
                      <a:r>
                        <a:rPr lang="ru-RU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Экспорт результатов в </a:t>
                      </a:r>
                      <a:r>
                        <a:rPr lang="en-US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MS Word </a:t>
                      </a:r>
                      <a:r>
                        <a:rPr lang="ru-RU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 </a:t>
                      </a:r>
                      <a:r>
                        <a:rPr lang="en-US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MS Excel</a:t>
                      </a:r>
                      <a:endParaRPr lang="ru-RU" sz="2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2851398"/>
                  </a:ext>
                </a:extLst>
              </a:tr>
              <a:tr h="399215">
                <a:tc>
                  <a:txBody>
                    <a:bodyPr/>
                    <a:lstStyle/>
                    <a:p>
                      <a:pPr algn="l"/>
                      <a:r>
                        <a:rPr lang="ru-RU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Журнал вычислений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109260"/>
                  </a:ext>
                </a:extLst>
              </a:tr>
              <a:tr h="587081">
                <a:tc>
                  <a:txBody>
                    <a:bodyPr/>
                    <a:lstStyle/>
                    <a:p>
                      <a:pPr algn="l"/>
                      <a:r>
                        <a:rPr lang="ru-RU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Бесплатное использования без ограничений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563805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09E34E9-743C-2ACF-7FDC-0B45BF06276A}"/>
              </a:ext>
            </a:extLst>
          </p:cNvPr>
          <p:cNvSpPr txBox="1"/>
          <p:nvPr/>
        </p:nvSpPr>
        <p:spPr>
          <a:xfrm>
            <a:off x="3743826" y="-3630"/>
            <a:ext cx="49730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ОБЗОР АНАЛОГОВ</a:t>
            </a:r>
          </a:p>
        </p:txBody>
      </p:sp>
    </p:spTree>
    <p:extLst>
      <p:ext uri="{BB962C8B-B14F-4D97-AF65-F5344CB8AC3E}">
        <p14:creationId xmlns:p14="http://schemas.microsoft.com/office/powerpoint/2010/main" val="3497676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7CD9BA-906D-D56D-C5E1-12A12791D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5105" y="-99427"/>
            <a:ext cx="8065168" cy="1138989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КУРСОВОГО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587D1C4-3004-4F12-9FF0-39E011A64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495" y="1039562"/>
            <a:ext cx="11543010" cy="487235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курсового проекта – углубление теоретических знаний и практических навыков в области алгоритмизации задач и разработки программных средств, развитие навыков самостоятельного изучения предметной области поставленной задачи.</a:t>
            </a:r>
          </a:p>
        </p:txBody>
      </p:sp>
    </p:spTree>
    <p:extLst>
      <p:ext uri="{BB962C8B-B14F-4D97-AF65-F5344CB8AC3E}">
        <p14:creationId xmlns:p14="http://schemas.microsoft.com/office/powerpoint/2010/main" val="29718413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F029C7-57FB-9CC1-05D1-8F06FE45E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5818" y="-16042"/>
            <a:ext cx="5000363" cy="945745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 КП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6A545D5-24BA-E129-7D07-ED64C1C0FC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238" y="737937"/>
            <a:ext cx="10273522" cy="6553200"/>
          </a:xfrm>
        </p:spPr>
        <p:txBody>
          <a:bodyPr>
            <a:noAutofit/>
          </a:bodyPr>
          <a:lstStyle/>
          <a:p>
            <a:pPr algn="just">
              <a:lnSpc>
                <a:spcPct val="150000"/>
              </a:lnSpc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изучение предметной области и особенностей работы с комплексными числами;</a:t>
            </a:r>
          </a:p>
          <a:p>
            <a:pPr algn="just">
              <a:lnSpc>
                <a:spcPct val="150000"/>
              </a:lnSpc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алгоритмов обработки математических выражений и методов синтаксического анализа;</a:t>
            </a:r>
          </a:p>
          <a:p>
            <a:pPr algn="just">
              <a:lnSpc>
                <a:spcPct val="150000"/>
              </a:lnSpc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структуры программы, графического интерфейса и системы экспорта результатов;</a:t>
            </a:r>
          </a:p>
          <a:p>
            <a:pPr algn="just">
              <a:lnSpc>
                <a:spcPct val="150000"/>
              </a:lnSpc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реализация, тестирование и анализ работы калькулятора комплексных чисел.</a:t>
            </a:r>
          </a:p>
        </p:txBody>
      </p:sp>
    </p:spTree>
    <p:extLst>
      <p:ext uri="{BB962C8B-B14F-4D97-AF65-F5344CB8AC3E}">
        <p14:creationId xmlns:p14="http://schemas.microsoft.com/office/powerpoint/2010/main" val="39209059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66388-E4FB-6B68-BA05-CD0899BE8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D6521ED-5666-9603-2029-8BBA0503D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7463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</a:t>
            </a:r>
            <a:endParaRPr lang="ru-RU" sz="32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B3E102F-8E43-50B4-6E11-38B05784B7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511" y="457200"/>
            <a:ext cx="10744978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2427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EB4FEF-A00B-2804-E75F-1D408A2D7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73959"/>
            <a:ext cx="10515600" cy="1094707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6326228-BF0B-7405-82BB-C918E796A0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20" y="317240"/>
            <a:ext cx="12027159" cy="6540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7359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52E528-5AFC-B60A-24C6-6033AFCA7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6529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</a:t>
            </a:r>
            <a:endParaRPr lang="ru-RU" sz="32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420C2D3-EA80-59EF-DAC9-2E70E6CA0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11628"/>
            <a:ext cx="12192000" cy="6346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2994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9490B9-808C-5FFB-8423-54749CF9C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65300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</a:t>
            </a:r>
            <a:endParaRPr lang="ru-RU" sz="32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F9F5C7A-3733-F3E7-FEA9-F04826D4C4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35902"/>
            <a:ext cx="12192000" cy="6635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1218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B2270-4C43-639E-B765-A2FCF1464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4C7C56-C1F7-2399-6A0C-8310B83A8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7463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</a:t>
            </a:r>
            <a:endParaRPr lang="ru-RU" sz="32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6EA1F18-7060-A3A2-08BE-D06925D706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6269" y="447869"/>
            <a:ext cx="6419461" cy="6410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7623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4FA75B4-17F4-6880-62DD-204BCA756E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681790"/>
            <a:ext cx="11614484" cy="61762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A821808-B7B2-6AB0-4DB9-F5B7E32F7016}"/>
              </a:ext>
            </a:extLst>
          </p:cNvPr>
          <p:cNvSpPr txBox="1"/>
          <p:nvPr/>
        </p:nvSpPr>
        <p:spPr>
          <a:xfrm>
            <a:off x="0" y="0"/>
            <a:ext cx="121278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КОМПЛЕСНЫЕ ЧИСЛА И ОБЛАСТЬ ИХ ПРИМЕНЕНИЯ</a:t>
            </a:r>
          </a:p>
        </p:txBody>
      </p:sp>
    </p:spTree>
    <p:extLst>
      <p:ext uri="{BB962C8B-B14F-4D97-AF65-F5344CB8AC3E}">
        <p14:creationId xmlns:p14="http://schemas.microsoft.com/office/powerpoint/2010/main" val="37166724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9460D2-F118-496F-CCEC-14C9FAE8D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606583" y="-309914"/>
            <a:ext cx="13534931" cy="1325563"/>
          </a:xfrm>
        </p:spPr>
        <p:txBody>
          <a:bodyPr>
            <a:norm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АРИФМЕТИЧЕСКИЕ ОПЕРАЦИИ С КОМПЛЕКСНЫМИ ЧИСЛАМИ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490225D-5560-C178-D39C-2835EA652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842" y="689812"/>
            <a:ext cx="11550315" cy="6168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2736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C4F5C7-7CAA-4B28-F8AB-00CB64E8B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11678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ВАРИАНТОВ ИСПОЛЬЗОВАНИЯ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C68E79C-447D-8DCC-1EA4-EC158CAC6A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849" y="688063"/>
            <a:ext cx="11566302" cy="6169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7891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3531EA-565D-DD42-60CD-25B513804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847" y="-99762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ВХОДНЫЕ ДАННЫЕ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E70E655-E7BD-C65D-B8F1-6A185E25B8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315" y="926933"/>
            <a:ext cx="10920664" cy="551792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Графический интерфейс (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GUI)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поля ввода для чисел и текста; 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кнопки для выбора действий;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история вычислений.</a:t>
            </a: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 выходных данных для калькулятора: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комплексное число или математическое выражение;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встроенная функция, параметры операции.</a:t>
            </a: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 входных данных для калькулятора: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2+3i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(2+3i)/(4-5i)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сопр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(2+3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полярная(5;45)</a:t>
            </a:r>
          </a:p>
          <a:p>
            <a:pPr marL="0" indent="0">
              <a:buNone/>
            </a:pP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20705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1F9F56-2943-A81A-2D6B-79BD0658C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ВЫХОДНЫЕ ДАННЫЕ</a:t>
            </a:r>
            <a:endParaRPr lang="ru-RU" sz="3200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CF925F6-0196-1AFC-F14B-9745BEC686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5772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Графический интерфейс (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GUI)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отображение результата вычислений; </a:t>
            </a:r>
          </a:p>
          <a:p>
            <a:r>
              <a:rPr lang="ru-RU" sz="2400" dirty="0"/>
              <a:t>вывод тригонометрической формы;</a:t>
            </a:r>
          </a:p>
          <a:p>
            <a:r>
              <a:rPr lang="ru-RU" sz="2400" dirty="0"/>
              <a:t>отображение модуля и аргумента;</a:t>
            </a:r>
          </a:p>
          <a:p>
            <a:r>
              <a:rPr lang="ru-RU" sz="2400" dirty="0"/>
              <a:t>сохранение истории вычислений;</a:t>
            </a:r>
          </a:p>
          <a:p>
            <a:r>
              <a:rPr lang="ru-RU" sz="2400" dirty="0"/>
              <a:t>сообщения об ошибках.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 выходных данных для калькулятора: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 вычисления: 2 + 3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тригонометрическая форма: 3.605551(cos56.31° + i·sin56.31°);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сообщение об ошибке: Ошибка: деление на ноль.</a:t>
            </a:r>
          </a:p>
          <a:p>
            <a:pPr marL="0" indent="0">
              <a:buNone/>
            </a:pP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7146509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F36CD52-C0D4-6A8D-36DE-A34B9DAEF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285" y="16358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СРЕДСТВА РАЗРАБОТКИ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5A26355-63D8-8372-44B9-B39006018E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013" y="1489148"/>
            <a:ext cx="7130143" cy="356411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Язык программирования: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C++ 17</a:t>
            </a: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Среда разработки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 Studio Code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Фреймворк: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Qt 6</a:t>
            </a: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сборки: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Cmake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Компилятор: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MinGW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Документации: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 Word 2021</a:t>
            </a: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Презентация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Power Point 2021</a:t>
            </a:r>
          </a:p>
        </p:txBody>
      </p:sp>
    </p:spTree>
    <p:extLst>
      <p:ext uri="{BB962C8B-B14F-4D97-AF65-F5344CB8AC3E}">
        <p14:creationId xmlns:p14="http://schemas.microsoft.com/office/powerpoint/2010/main" val="6323851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9E4A86-783D-65DC-6201-91BBADCCD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4072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СВЕДЕНИЯ О ПРОЕКТЕ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D141B2F-E9F9-1122-2CC3-336980F5F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06424"/>
            <a:ext cx="10515600" cy="606709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контроля версий: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Архитектура проекта: модульная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Количество классов: 2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Количество структур: 3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Количество модулей: 5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Количество файлов: 5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Количество файлов: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Заголовочные файлы (.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h)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2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Файлы реализации (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cpp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3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Количество форм интерфейса: 1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Количества строк кода: 1435 строк</a:t>
            </a:r>
          </a:p>
          <a:p>
            <a:pPr marL="0" indent="0">
              <a:lnSpc>
                <a:spcPct val="100000"/>
              </a:lnSpc>
              <a:buNone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68853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35BEC9-EA3F-AB16-D366-66E2D3758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799" y="261667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СИСТЕМНЫЕ ТРЕБОВАНИЯ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D8C8CFE-AFA2-6E47-BAF4-7F1C107537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9236" y="1415681"/>
            <a:ext cx="9442308" cy="435133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Процессор: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Intel/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Amd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совместимый процессор с тактовой частотой не менее 1,8 ГГц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5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Оперативная память: не менее 1 ГБ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Дисковое пространство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 менее 100 МБ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10/11, Linux, macOS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12180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4770FA-C3B0-8E64-5F27-A5E8F9106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0863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ВЫВОДЫ КУРСОВОГО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A0645D0-A823-0B17-CADF-D4A235A9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9513" y="1266242"/>
            <a:ext cx="10892971" cy="5132780"/>
          </a:xfrm>
        </p:spPr>
        <p:txBody>
          <a:bodyPr>
            <a:no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Были изучены особенности работы с комплексными числами, проведён анализ предметной области и существующих программных решений. На основе полученных данных сформированы требования к информационной системе, спроектирована структура программного продукта и разработан программный калькулятор для выполнения арифметических операций с комплексными числами. Проведённое тестирование подтвердило корректность работы программы и соответствие реализованного функционала поставленным задачам.</a:t>
            </a:r>
          </a:p>
        </p:txBody>
      </p:sp>
    </p:spTree>
    <p:extLst>
      <p:ext uri="{BB962C8B-B14F-4D97-AF65-F5344CB8AC3E}">
        <p14:creationId xmlns:p14="http://schemas.microsoft.com/office/powerpoint/2010/main" val="41400564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7F85CA-94FC-EA0F-48D3-289D7770F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658" y="857730"/>
            <a:ext cx="11690684" cy="5142540"/>
          </a:xfrm>
        </p:spPr>
        <p:txBody>
          <a:bodyPr>
            <a:normAutofit/>
          </a:bodyPr>
          <a:lstStyle/>
          <a:p>
            <a:pPr algn="ctr"/>
            <a:r>
              <a:rPr lang="ru-RU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ВНИМАНИЕ.</a:t>
            </a:r>
          </a:p>
        </p:txBody>
      </p:sp>
    </p:spTree>
    <p:extLst>
      <p:ext uri="{BB962C8B-B14F-4D97-AF65-F5344CB8AC3E}">
        <p14:creationId xmlns:p14="http://schemas.microsoft.com/office/powerpoint/2010/main" val="294878830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442</TotalTime>
  <Words>573</Words>
  <Application>Microsoft Office PowerPoint</Application>
  <PresentationFormat>Широкоэкранный</PresentationFormat>
  <Paragraphs>115</Paragraphs>
  <Slides>21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ЦЕЛЬ КУРСОВОГО ПРОЕКТА</vt:lpstr>
      <vt:lpstr>ЗАДАЧИ КП</vt:lpstr>
      <vt:lpstr>АЛГОРИТМ</vt:lpstr>
      <vt:lpstr>АЛГОРИТМ</vt:lpstr>
      <vt:lpstr>АЛГОРИТМ</vt:lpstr>
      <vt:lpstr>АЛГОРИТМ</vt:lpstr>
      <vt:lpstr>АЛГОРИТМ</vt:lpstr>
      <vt:lpstr>Презентация PowerPoint</vt:lpstr>
      <vt:lpstr>АРИФМЕТИЧЕСКИЕ ОПЕРАЦИИ С КОМПЛЕКСНЫМИ ЧИСЛАМИ</vt:lpstr>
      <vt:lpstr>ДИАГРАММА ВАРИАНТОВ ИСПОЛЬЗОВАНИЯ</vt:lpstr>
      <vt:lpstr>ВХОДНЫЕ ДАННЫЕ</vt:lpstr>
      <vt:lpstr>ВЫХОДНЫЕ ДАННЫЕ</vt:lpstr>
      <vt:lpstr>СРЕДСТВА РАЗРАБОТКИ</vt:lpstr>
      <vt:lpstr>СВЕДЕНИЯ О ПРОЕКТЕ</vt:lpstr>
      <vt:lpstr>СИСТЕМНЫЕ ТРЕБОВАНИЯ</vt:lpstr>
      <vt:lpstr>ВЫВОДЫ КУРСОВОГО ПРОЕКТА</vt:lpstr>
      <vt:lpstr>СПАСИБО ЗА ВНИМАНИЕ.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kriperlol</dc:creator>
  <cp:lastModifiedBy>kriperlol</cp:lastModifiedBy>
  <cp:revision>54</cp:revision>
  <dcterms:created xsi:type="dcterms:W3CDTF">2026-02-02T19:44:38Z</dcterms:created>
  <dcterms:modified xsi:type="dcterms:W3CDTF">2026-05-27T17:14:40Z</dcterms:modified>
</cp:coreProperties>
</file>