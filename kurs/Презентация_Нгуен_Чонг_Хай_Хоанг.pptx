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73" r:id="rId10"/>
    <p:sldId id="274" r:id="rId11"/>
    <p:sldId id="277" r:id="rId12"/>
    <p:sldId id="263" r:id="rId13"/>
    <p:sldId id="264" r:id="rId14"/>
    <p:sldId id="272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ГТУ" initials="А" lastIdx="6" clrIdx="0">
    <p:extLst>
      <p:ext uri="{19B8F6BF-5375-455C-9EA6-DF929625EA0E}">
        <p15:presenceInfo xmlns:p15="http://schemas.microsoft.com/office/powerpoint/2012/main" userId="АГТУ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2446" autoAdjust="0"/>
  </p:normalViewPr>
  <p:slideViewPr>
    <p:cSldViewPr snapToGrid="0">
      <p:cViewPr>
        <p:scale>
          <a:sx n="50" d="100"/>
          <a:sy n="50" d="100"/>
        </p:scale>
        <p:origin x="141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1T11:14:24.608" idx="4">
    <p:pos x="10" y="10"/>
    <p:text>Не увидела с 7 по 10 слайд у вас эти алгоритмы в ПЗ.</p:text>
    <p:extLst>
      <p:ext uri="{C676402C-5697-4E1C-873F-D02D1690AC5C}">
        <p15:threadingInfo xmlns:p15="http://schemas.microsoft.com/office/powerpoint/2012/main" timeZoneBias="-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3735F-9264-4A97-8C4C-A653171D390C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8109A-ADD0-458A-8188-81DF702EA6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991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312C0-D7C2-10F5-5963-1AF9622BD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AD7406-077C-88C5-968F-AE3CAC134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AA99FA-E318-25A8-E4F7-A95007BC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EA02-240A-451B-B904-111D54F784DE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B19C97-3EFE-BCA6-01C1-8C3572A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622C3A-F9CE-463B-0E5D-03C97BA8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792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97DB4-8D3B-A80E-879A-4F1F9BAD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16F049-13EA-B483-3071-82906EA56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2D6FAA-6298-A2B8-8D0F-82B88012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A9C-07A6-45E5-A871-EEB67890A1A4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433F15-46EE-9475-9327-B5C98AD9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C6330F-7C0C-D29A-F93B-8B9DF9BC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92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AB3F-195E-4015-EA81-9DE2C592A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0A4F3B-FDA7-ED76-D451-C97A78C8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F923D1-CE9A-A4C5-228A-3CA9F5E6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C538-DAC7-4195-87B0-7EE50BC239FE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6E8C24-0A24-9C78-6699-20BBB84A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220424-B120-C9DB-EEC3-5E7E9126E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73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6E98-A9E2-2806-CB20-DE3FCE7A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AB2AF4-9D90-E9F1-F58D-B51A2B24D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94430D-A6BA-C2BA-72A9-0F6DDD806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4C06C2-153B-EFE2-3E19-757A463E1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4E9D-3FFD-4405-8570-907212ED5659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E36BF4-D777-31A6-9460-BF26270F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9CC3E0-D6E2-E876-8EBF-75E76ED3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01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D85C6-134B-C972-179E-C5163B43C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FD9A81-BCFA-5A12-806A-4B94FB40C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5FD2394-1426-D3BA-8D47-3C400B424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1BE363-04AA-1C83-287C-9B1C59106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7DCFE5-117D-C62A-75CB-63C331B29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7BBC42-C098-1680-AF79-60ADCAD1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E3CE-59F1-4EBC-8A0F-99E2983B34A3}" type="datetime1">
              <a:rPr lang="ru-RU" smtClean="0"/>
              <a:t>03.06.2026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99DDCC-9A13-CE1F-8294-A77E9E6B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52A513-D7A3-D2EA-B5B3-9F86558B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2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5B98CF-0BD2-8ADF-5BB4-F2334394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D9E3F1A-2447-4D71-BB37-19DFE127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526D7-E79A-411F-933D-212595ABE93D}" type="datetime1">
              <a:rPr lang="ru-RU" smtClean="0"/>
              <a:t>03.06.2026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D67151-84A0-837C-D256-B1E7E92E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21A804-3998-1930-1D00-2BDD391D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315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215950-81E3-52E3-5615-DDBF156C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4CBA-30F3-47AA-867B-D21BBC4097E7}" type="datetime1">
              <a:rPr lang="ru-RU" smtClean="0"/>
              <a:t>03.06.2026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F85A343-1F9B-53B8-33D2-69D12D00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61F0F9-7EB8-29DA-914B-7711E820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96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288A3-31A0-3F66-4EBB-4AEA8FC6D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A294FF-CB56-04A1-A7B3-3D79EF34A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5F7E01-3287-1B54-085E-49FDDF25E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876CD5-72F8-1CA4-3085-6211D45C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4584-A2F0-44E2-A183-9B69E2E6CA93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26517F-F9FC-9303-B0AF-3CF54AF4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5AB856-AE05-40E6-5D21-CF933D03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01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4863E-C565-97EC-A4EA-03DF50A6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5FBADF-1121-A20A-C29E-B75B12D13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6E6B30-A28F-2F4B-9C5E-A8DB91A0C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F69A8C-6DB8-1560-D9CC-A43EC04B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DB124-0B64-416D-A3B7-7165349405C4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A632C7-D953-DF83-F5C9-9C80E117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2D980F-93EE-B462-85FA-B81EDC28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18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91FD8-D77A-A89F-0CFA-489BB2A80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B3A213-62E5-23C3-718B-C25D7FA1C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D6506C-AC58-851D-719D-6D8C9B4B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F349-5797-4A0D-B264-5D71932C1BD3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7360C3-F653-C019-6459-A718297C3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DC18C8-4047-8CFA-747A-B95EB0F1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02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77E2E6-0506-CB55-7847-09395489E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1A5417-3870-99F5-B32B-F66ACAF8A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328B-2DB6-1D44-710C-7A7B215F1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CA9D-8873-47FB-9A72-3C94E1E2A5E8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CAC1B3-4EF0-85A8-5636-240DBCCCC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197C0E-C03D-7CB8-21EC-191FB946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39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26FBE-930A-96D8-8975-820829CE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DE828B-85C0-7BA0-4568-5A437E3F1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CD2B5-D6C0-FFB3-776D-114FD8408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274BD-2035-406F-ADA7-93B3970E4A6D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483776-C4B5-C002-E1FF-DBEEDBBA5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55F05-3EF8-E70B-D169-96B910BCF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96541-D436-430B-9B70-02BCB56269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84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F17D97-98AB-1DEE-56FA-C142C16CBD1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09" y="444452"/>
            <a:ext cx="1375270" cy="13234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D07BD1A-2E48-1F9A-427B-FCF3B4334359}"/>
              </a:ext>
            </a:extLst>
          </p:cNvPr>
          <p:cNvSpPr/>
          <p:nvPr/>
        </p:nvSpPr>
        <p:spPr>
          <a:xfrm>
            <a:off x="2186368" y="304188"/>
            <a:ext cx="7888113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" algn="ctr"/>
            <a:r>
              <a:rPr lang="ru-RU" sz="16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Федеральное агентство по рыболовству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7145" algn="ctr"/>
            <a:r>
              <a:rPr lang="ru-RU" sz="16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Федеральное государственное бюджетное образовательное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7145" algn="ctr"/>
            <a:r>
              <a:rPr lang="ru-RU" sz="16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учреждение высшего образования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7145" algn="ctr"/>
            <a:r>
              <a:rPr lang="ru-RU" sz="16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«Астраханский государственный технический университет</a:t>
            </a:r>
            <a:r>
              <a:rPr lang="ru-RU" sz="1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»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7145" algn="ctr"/>
            <a:r>
              <a:rPr lang="ru-RU" sz="900" b="1" dirty="0">
                <a:latin typeface="Times New Roman" panose="02020603050405020304" pitchFamily="18" charset="0"/>
                <a:ea typeface="Calibri" panose="020F0502020204030204" pitchFamily="34" charset="0"/>
              </a:rPr>
              <a:t>Система менеджмента качества в области образования, воспитания, науки и инноваций сертифицирована</a:t>
            </a:r>
            <a:endParaRPr lang="ru-RU" sz="9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/>
            <a:r>
              <a:rPr lang="ru-RU" sz="900" b="1" dirty="0">
                <a:latin typeface="Times New Roman" panose="02020603050405020304" pitchFamily="18" charset="0"/>
                <a:ea typeface="Calibri" panose="020F0502020204030204" pitchFamily="34" charset="0"/>
              </a:rPr>
              <a:t>ООО «ДКС РУС» по международному стандарту ISO 9001</a:t>
            </a:r>
            <a:r>
              <a:rPr lang="en-US" sz="9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ГОСТ Р ИСО 9001</a:t>
            </a:r>
            <a:endParaRPr 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FB092-C61F-A642-7AFF-19D0F13E445B}"/>
              </a:ext>
            </a:extLst>
          </p:cNvPr>
          <p:cNvSpPr txBox="1"/>
          <p:nvPr/>
        </p:nvSpPr>
        <p:spPr>
          <a:xfrm>
            <a:off x="2709643" y="1817651"/>
            <a:ext cx="6928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автоматизированные системы обработки информации и управления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383106-8A31-2D37-1D7A-F7A5222CFD62}"/>
              </a:ext>
            </a:extLst>
          </p:cNvPr>
          <p:cNvSpPr txBox="1"/>
          <p:nvPr/>
        </p:nvSpPr>
        <p:spPr>
          <a:xfrm>
            <a:off x="3453148" y="2514821"/>
            <a:ext cx="54419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0265D-664C-FA4C-C45A-F233EB00189C}"/>
              </a:ext>
            </a:extLst>
          </p:cNvPr>
          <p:cNvSpPr txBox="1"/>
          <p:nvPr/>
        </p:nvSpPr>
        <p:spPr>
          <a:xfrm>
            <a:off x="323144" y="3216845"/>
            <a:ext cx="11545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«Основы алгоритмизации и программирование»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Учебно-демонстрационная программа «Разработка калькулятора для выполнения арифметических операций с комплексными числами».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AB24702-E340-8A0F-E756-25DD98972980}"/>
              </a:ext>
            </a:extLst>
          </p:cNvPr>
          <p:cNvSpPr/>
          <p:nvPr/>
        </p:nvSpPr>
        <p:spPr>
          <a:xfrm>
            <a:off x="6880702" y="4473696"/>
            <a:ext cx="50405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Выполнил: обучающийся группы ДИНРб-11/2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Нгуен Чонг Хай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Хоанг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Руководитель практики: ассистент 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Девяткина Е. П.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D440C0-AAE9-6439-711C-531AB852CB6C}"/>
              </a:ext>
            </a:extLst>
          </p:cNvPr>
          <p:cNvSpPr/>
          <p:nvPr/>
        </p:nvSpPr>
        <p:spPr>
          <a:xfrm>
            <a:off x="3671771" y="616958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 – 2026 г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C997062-53E8-410B-DE7B-0523CC70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695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4F2D9D-8664-48F5-91CD-4783ABC627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505" y="795614"/>
            <a:ext cx="8280987" cy="5982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65C8F9-70ED-186D-C089-A0985A07D96C}"/>
              </a:ext>
            </a:extLst>
          </p:cNvPr>
          <p:cNvSpPr txBox="1"/>
          <p:nvPr/>
        </p:nvSpPr>
        <p:spPr>
          <a:xfrm>
            <a:off x="818147" y="80211"/>
            <a:ext cx="105557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09614D1-1335-779B-DCC2-45CED7EE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61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CDFBF5-00D2-2319-0FFE-C268FB89340A}"/>
              </a:ext>
            </a:extLst>
          </p:cNvPr>
          <p:cNvSpPr txBox="1"/>
          <p:nvPr/>
        </p:nvSpPr>
        <p:spPr>
          <a:xfrm>
            <a:off x="1756610" y="0"/>
            <a:ext cx="8678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КУРСОВОГО ПРОЕКТА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7FDB25-EF16-6B9C-772D-FB86E3C598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04" y="787975"/>
            <a:ext cx="10435389" cy="582137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7F52207-02CB-8092-CB8C-9ACC1B19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44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06B7107-3BAD-109B-5EF6-F0BA472B0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607836"/>
              </p:ext>
            </p:extLst>
          </p:nvPr>
        </p:nvGraphicFramePr>
        <p:xfrm>
          <a:off x="747962" y="581145"/>
          <a:ext cx="10696075" cy="460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0927">
                  <a:extLst>
                    <a:ext uri="{9D8B030D-6E8A-4147-A177-3AD203B41FA5}">
                      <a16:colId xmlns:a16="http://schemas.microsoft.com/office/drawing/2014/main" val="1889301400"/>
                    </a:ext>
                  </a:extLst>
                </a:gridCol>
                <a:gridCol w="1684421">
                  <a:extLst>
                    <a:ext uri="{9D8B030D-6E8A-4147-A177-3AD203B41FA5}">
                      <a16:colId xmlns:a16="http://schemas.microsoft.com/office/drawing/2014/main" val="3314604368"/>
                    </a:ext>
                  </a:extLst>
                </a:gridCol>
                <a:gridCol w="1780674">
                  <a:extLst>
                    <a:ext uri="{9D8B030D-6E8A-4147-A177-3AD203B41FA5}">
                      <a16:colId xmlns:a16="http://schemas.microsoft.com/office/drawing/2014/main" val="1437134833"/>
                    </a:ext>
                  </a:extLst>
                </a:gridCol>
                <a:gridCol w="1556084">
                  <a:extLst>
                    <a:ext uri="{9D8B030D-6E8A-4147-A177-3AD203B41FA5}">
                      <a16:colId xmlns:a16="http://schemas.microsoft.com/office/drawing/2014/main" val="3997210579"/>
                    </a:ext>
                  </a:extLst>
                </a:gridCol>
                <a:gridCol w="2273969">
                  <a:extLst>
                    <a:ext uri="{9D8B030D-6E8A-4147-A177-3AD203B41FA5}">
                      <a16:colId xmlns:a16="http://schemas.microsoft.com/office/drawing/2014/main" val="3820099645"/>
                    </a:ext>
                  </a:extLst>
                </a:gridCol>
              </a:tblGrid>
              <a:tr h="540115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АНАЛОГ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АНАЛОГ 2</a:t>
                      </a:r>
                    </a:p>
                    <a:p>
                      <a:pPr algn="ctr"/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АНАЛОГ 3</a:t>
                      </a:r>
                    </a:p>
                    <a:p>
                      <a:pPr algn="ctr"/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Разрабатываемая система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2457"/>
                  </a:ext>
                </a:extLst>
              </a:tr>
              <a:tr h="845397"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Арифметические операции с комплексными числами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080456"/>
                  </a:ext>
                </a:extLst>
              </a:tr>
              <a:tr h="587081"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декартовой и полярной форм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27998"/>
                  </a:ext>
                </a:extLst>
              </a:tr>
              <a:tr h="587081"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Экспорт результатов в 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Word </a:t>
                      </a:r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Excel</a:t>
                      </a:r>
                      <a:endParaRPr lang="ru-RU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851398"/>
                  </a:ext>
                </a:extLst>
              </a:tr>
              <a:tr h="399215"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Журнал вычислений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09260"/>
                  </a:ext>
                </a:extLst>
              </a:tr>
              <a:tr h="587081"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Бесплатное использования без ограничений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6380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9E34E9-743C-2ACF-7FDC-0B45BF06276A}"/>
              </a:ext>
            </a:extLst>
          </p:cNvPr>
          <p:cNvSpPr txBox="1"/>
          <p:nvPr/>
        </p:nvSpPr>
        <p:spPr>
          <a:xfrm>
            <a:off x="3743826" y="-3630"/>
            <a:ext cx="497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АНАЛОГОВ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0D72AC7-8090-0B48-E926-97E8C04D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67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CD9BA-906D-D56D-C5E1-12A12791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105" y="-99427"/>
            <a:ext cx="8065168" cy="1138989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87D1C4-3004-4F12-9FF0-39E011A64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95" y="1039562"/>
            <a:ext cx="11543010" cy="487235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проекта – углубление теоретических знаний и практических навыков в области алгоритмизации задач и разработки программных средств, развитие навыков самостоятельного изучения предметной области поставленной задачи.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FDFBA2-A0E1-2B12-CEF8-7271D02B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841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029C7-57FB-9CC1-05D1-8F06FE45E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818" y="-16042"/>
            <a:ext cx="5000363" cy="94574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КП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A545D5-24BA-E129-7D07-ED64C1C0F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38" y="737937"/>
            <a:ext cx="10273522" cy="6553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предметной области и особенностей работы с комплексными числами;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алгоритмов обработки математических выражений и методов синтаксического анализа;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структуры программы, графического интерфейса и системы экспорта результатов;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реализация, тестирование и анализ работы калькулятора комплексных чисел.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E842AE-587C-A1B8-9D8F-8B40181C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905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6388-E4FB-6B68-BA05-CD0899BE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521ED-5666-9603-2029-8BBA0503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746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ru-RU" sz="3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3E102F-8E43-50B4-6E11-38B05784B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1" y="457200"/>
            <a:ext cx="10744978" cy="64008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8C4D480-21EC-0498-5018-3342FDDA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242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B4FEF-A00B-2804-E75F-1D408A2D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3959"/>
            <a:ext cx="10515600" cy="1094707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326228-BF0B-7405-82BB-C918E796A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0" y="317240"/>
            <a:ext cx="12027159" cy="654075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1CA763-E00F-1065-8FAB-9B12F410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73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2E528-5AFC-B60A-24C6-6033AFCA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52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ru-RU" sz="32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20C2D3-EA80-59EF-DAC9-2E70E6CA0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1628"/>
            <a:ext cx="12192000" cy="634637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713356D-0E04-F02C-95C3-C64CDCF4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299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490B9-808C-5FFB-8423-54749CF9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53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9F5C7A-3733-F3E7-FEA9-F04826D4C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902"/>
            <a:ext cx="12192000" cy="6635912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DD2ADEA-E121-79AB-BE47-87BF124E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121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2270-4C43-639E-B765-A2FCF146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C7C56-C1F7-2399-6A0C-8310B83A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746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EA1F18-7060-A3A2-08BE-D06925D70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269" y="447869"/>
            <a:ext cx="6419461" cy="641013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A9EEAF-807A-AD32-E6B5-BD9DFBCA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62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FA75B4-17F4-6880-62DD-204BCA756E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81790"/>
            <a:ext cx="11614484" cy="6176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821808-B7B2-6AB0-4DB9-F5B7E32F7016}"/>
              </a:ext>
            </a:extLst>
          </p:cNvPr>
          <p:cNvSpPr txBox="1"/>
          <p:nvPr/>
        </p:nvSpPr>
        <p:spPr>
          <a:xfrm>
            <a:off x="0" y="0"/>
            <a:ext cx="12127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КОМПЛЕСНЫЕ ЧИСЛА И ОБЛАСТЬ ИХ ПРИМЕНЕНИЯ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2CD4960-1C07-A4DB-CBF3-C839F6B7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672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460D2-F118-496F-CCEC-14C9FAE8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6583" y="-309914"/>
            <a:ext cx="13534931" cy="1325563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АРИФМЕТИЧЕСКИЕ ОПЕРАЦИИ С КОМПЛЕКСНЫМИ ЧИСЛАМИ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90225D-5560-C178-D39C-2835EA65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" y="689812"/>
            <a:ext cx="11550315" cy="616818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CB2B4D4-1EC1-F94A-6683-29B19A31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273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4F5C7-7CAA-4B28-F8AB-00CB64E8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11678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68E79C-447D-8DCC-1EA4-EC158CAC6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9" y="688063"/>
            <a:ext cx="11566302" cy="616993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BE7DA5D-0D5E-835B-4DCF-79CB9DB1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78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3531EA-565D-DD42-60CD-25B51380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847" y="-997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70E655-E7BD-C65D-B8F1-6A185E25B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315" y="926933"/>
            <a:ext cx="10920664" cy="55179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Графический интерфейс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поля ввода для чисел и текста;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кнопки для выбора действий;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вычислений.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выходных данных для калькулятора: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комплексное число или математическое выражение;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встроенная функция, параметры операции.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входных данных для калькулятора: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2+3i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(2+3i)/(4-5i)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сопр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(2+3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полярная(5;45)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117845-3AAE-A32D-5755-1183A809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070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F9F56-2943-A81A-2D6B-79BD0658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ВЫХОДНЫЕ ДАННЫЕ</a:t>
            </a:r>
            <a:endParaRPr lang="ru-RU" sz="32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925F6-0196-1AFC-F14B-9745BEC68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577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Графический интерфейс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результата вычислений;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тригонометрической формы;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модуля и аргумента;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истории вычислений;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об ошибках.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выходных данных для калькулятора: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вычисления: 2 + 3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тригонометрическая форма: 3.605551(cos56.31° + i·sin56.31°);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сообщение об ошибке: Ошибка: деление на ноль.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3C48A3-A261-EA41-9199-8563FD9D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650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6CD52-C0D4-6A8D-36DE-A34B9DAE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1635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A26355-63D8-8372-44B9-B39006018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013" y="1489148"/>
            <a:ext cx="7130143" cy="35641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C++ 17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 6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сборки: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Cmake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MinGW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Документации: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Word 2021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Power Point 2021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0E7575-BC9C-9DD4-3BC8-3A34854C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385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E4A86-783D-65DC-6201-91BBADCC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072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СВЕДЕНИЯ 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141B2F-E9F9-1122-2CC3-336980F5F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24"/>
            <a:ext cx="10515600" cy="606709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версий: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проекта: модульная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классов: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структур: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модулей: 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файлов: 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файлов: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Заголовочные файлы (.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Файлы реализации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форм интерфейса: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Количества строк кода: 1435 строк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DD4C3D-3C52-B393-725B-282F3326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885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5BEC9-EA3F-AB16-D366-66E2D375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26166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C8CFE-AFA2-6E47-BAF4-7F1C10753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236" y="1415681"/>
            <a:ext cx="9442308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совместимый процессор с тактовой частотой не менее 1,8 ГГц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Оперативная память: не менее 1 ГБ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Дисковое пространство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менее 100 МБ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10/11, Linux, macOS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E20F37-B633-B55D-45AC-8B0EAFD4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21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770FA-C3B0-8E64-5F27-A5E8F9106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6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КУРСОВОГО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0645D0-A823-0B17-CADF-D4A235A9A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13" y="1266242"/>
            <a:ext cx="10892971" cy="513278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изучены особенности работы с комплексными числами, проведён анализ предметной области и существующих программных решений. На основе полученных данных сформированы требования к информационной системе, спроектирована структура программного продукта и разработан программный калькулятор для выполнения арифметических операций с комплексными числами. Проведённое тестирование подтвердило корректность работы программы и соответствие реализованного функционала поставленным задачам.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F0F1D8-D41D-E137-2661-3274CB05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056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F85CA-94FC-EA0F-48D3-289D7770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58" y="857730"/>
            <a:ext cx="11690684" cy="5142540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E823FB-2176-4EB8-D6F5-7504F2C9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6541-D436-430B-9B70-02BCB562699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7883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590</Words>
  <Application>Microsoft Office PowerPoint</Application>
  <PresentationFormat>Широкоэкранный</PresentationFormat>
  <Paragraphs>136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ЦЕЛЬ КУРСОВОГО ПРОЕКТА</vt:lpstr>
      <vt:lpstr>ЗАДАЧИ КП</vt:lpstr>
      <vt:lpstr>АЛГОРИТМ</vt:lpstr>
      <vt:lpstr>АЛГОРИТМ</vt:lpstr>
      <vt:lpstr>АЛГОРИТМ</vt:lpstr>
      <vt:lpstr>АЛГОРИТМ</vt:lpstr>
      <vt:lpstr>АЛГОРИТМ</vt:lpstr>
      <vt:lpstr>Презентация PowerPoint</vt:lpstr>
      <vt:lpstr>АРИФМЕТИЧЕСКИЕ ОПЕРАЦИИ С КОМПЛЕКСНЫМИ ЧИСЛАМИ</vt:lpstr>
      <vt:lpstr>ДИАГРАММА ВАРИАНТОВ ИСПОЛЬЗОВАНИЯ</vt:lpstr>
      <vt:lpstr>ВХОДНЫЕ ДАННЫЕ</vt:lpstr>
      <vt:lpstr>ВЫХОДНЫЕ ДАННЫЕ</vt:lpstr>
      <vt:lpstr>СРЕДСТВА РАЗРАБОТКИ</vt:lpstr>
      <vt:lpstr>СВЕДЕНИЯ О ПРОЕКТЕ</vt:lpstr>
      <vt:lpstr>СИСТЕМНЫЕ ТРЕБОВАНИЯ</vt:lpstr>
      <vt:lpstr>ВЫВОДЫ КУРСОВОГО ПРОЕКТА</vt:lpstr>
      <vt:lpstr>СПАСИБО ЗА ВНИМАНИЕ.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kriperlol</dc:creator>
  <cp:lastModifiedBy>Павел</cp:lastModifiedBy>
  <cp:revision>66</cp:revision>
  <dcterms:created xsi:type="dcterms:W3CDTF">2026-02-02T19:44:38Z</dcterms:created>
  <dcterms:modified xsi:type="dcterms:W3CDTF">2026-06-03T16:56:33Z</dcterms:modified>
</cp:coreProperties>
</file>